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Mean CO2 by decade (ppm)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CO2 (ppm)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Sheet1!$A$2:$A$9</c:f>
              <c:strCache>
                <c:ptCount val="8"/>
                <c:pt idx="0">
                  <c:v>1950s</c:v>
                </c:pt>
                <c:pt idx="1">
                  <c:v>1960s</c:v>
                </c:pt>
                <c:pt idx="2">
                  <c:v>1970s</c:v>
                </c:pt>
                <c:pt idx="3">
                  <c:v>1980s</c:v>
                </c:pt>
                <c:pt idx="4">
                  <c:v>1990s</c:v>
                </c:pt>
                <c:pt idx="5">
                  <c:v>2000s</c:v>
                </c:pt>
                <c:pt idx="6">
                  <c:v>2010s</c:v>
                </c:pt>
                <c:pt idx="7">
                  <c:v>2020s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315.98</c:v>
                </c:pt>
                <c:pt idx="1">
                  <c:v>320.287</c:v>
                </c:pt>
                <c:pt idx="2">
                  <c:v>330.858</c:v>
                </c:pt>
                <c:pt idx="3">
                  <c:v>345.654</c:v>
                </c:pt>
                <c:pt idx="4">
                  <c:v>360.583</c:v>
                </c:pt>
                <c:pt idx="5">
                  <c:v>378.772</c:v>
                </c:pt>
                <c:pt idx="6">
                  <c:v>400.411</c:v>
                </c:pt>
                <c:pt idx="7">
                  <c:v>420.365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Atmospheric CO2 at Mauna Loa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Research analysis</a:t>
            </a:r>
          </a:p>
        </p:txBody>
      </p:sp>
      <p:sp>
        <p:nvSpPr>
          <p:cNvPr id="4" name="accent_bar"/>
          <p:cNvSpPr/>
          <p:nvPr/>
        </p:nvSpPr>
        <p:spPr>
          <a:xfrm>
            <a:off x="0" y="6309360"/>
            <a:ext cx="9144000" cy="274320"/>
          </a:xfrm>
          <a:prstGeom prst="rect">
            <a:avLst/>
          </a:prstGeom>
          <a:solidFill>
            <a:srgbClr val="E07A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What the data shows</a:t>
            </a:r>
          </a:p>
        </p:txBody>
      </p:sp>
      <p:graphicFrame>
        <p:nvGraphicFramePr>
          <p:cNvPr id="3" name="deck_chart"/>
          <p:cNvGraphicFramePr>
            <a:graphicFrameLocks noGrp="1"/>
          </p:cNvGraphicFramePr>
          <p:nvPr/>
        </p:nvGraphicFramePr>
        <p:xfrm>
          <a:off x="731520" y="1508760"/>
          <a:ext cx="768096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The analysis in this report is limited to describing the published annual means and their decade averages; it does not attempt attribution or projection.</a:t>
            </a:r>
          </a:p>
          <a:p>
            <a:r>
              <a:rPr>
                <a:solidFill>
                  <a:srgbClr val="333333"/>
                </a:solidFill>
                <a:latin typeface="Calibri"/>
              </a:rPr>
              <a:t>Readers should note the gap in on-site measurements after the eruption of Mauna Loa in late November 2022: observations from December 2022 to July 2023 come from the Maunakea…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Sources</a:t>
            </a:r>
          </a:p>
        </p:txBody>
      </p:sp>
      <p:sp>
        <p:nvSpPr>
          <p:cNvPr id="3" name="sources_list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Calibri"/>
              </a:rPr>
              <a:t>Visual guide — guideline</a:t>
            </a:r>
          </a:p>
          <a:p>
            <a:r>
              <a:rPr sz="1600">
                <a:solidFill>
                  <a:srgbClr val="333333"/>
                </a:solidFill>
                <a:latin typeface="Calibri"/>
              </a:rPr>
              <a:t>Research notes —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